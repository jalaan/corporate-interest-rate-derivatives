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Treasury yield</c:v>
                </c:pt>
              </c:strCache>
            </c:strRef>
          </c:tx>
          <c:spPr>
            <a:solidFill>
              <a:srgbClr val="1F4E78"/>
            </a:solidFill>
            <a:ln w="38100" cap="flat">
              <a:solidFill>
                <a:srgbClr val="1F4E7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F4E78"/>
              </a:solidFill>
              <a:ln w="9525" cap="flat">
                <a:solidFill>
                  <a:srgbClr val="1F4E7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1Y</c:v>
                  </c:pt>
                  <c:pt idx="1">
                    <c:v>2Y</c:v>
                  </c:pt>
                  <c:pt idx="2">
                    <c:v>3Y</c:v>
                  </c:pt>
                  <c:pt idx="3">
                    <c:v>5Y</c:v>
                  </c:pt>
                  <c:pt idx="4">
                    <c:v>7Y</c:v>
                  </c:pt>
                  <c:pt idx="5">
                    <c:v>10Y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4.43</c:v>
                </c:pt>
                <c:pt idx="1">
                  <c:v>4.71</c:v>
                </c:pt>
                <c:pt idx="2">
                  <c:v>4.81</c:v>
                </c:pt>
                <c:pt idx="3">
                  <c:v>4.83</c:v>
                </c:pt>
                <c:pt idx="4">
                  <c:v>4.89</c:v>
                </c:pt>
                <c:pt idx="5">
                  <c:v>4.96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Treasury tenor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.1"/>
          <c:min val="4.2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Yield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 w="12700" cap="flat">
          <a:solidFill>
            <a:srgbClr val="D9E0E9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Unhedged</c:v>
                </c:pt>
              </c:strCache>
            </c:strRef>
          </c:tx>
          <c:spPr>
            <a:solidFill>
              <a:srgbClr val="8A94A6"/>
            </a:solidFill>
            <a:ln w="31750" cap="flat">
              <a:solidFill>
                <a:srgbClr val="8A94A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A94A6"/>
              </a:solidFill>
              <a:ln w="9525" cap="flat">
                <a:solidFill>
                  <a:srgbClr val="8A94A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2.50%</c:v>
                  </c:pt>
                  <c:pt idx="1">
                    <c:v>3.00%</c:v>
                  </c:pt>
                  <c:pt idx="2">
                    <c:v>3.50%</c:v>
                  </c:pt>
                  <c:pt idx="3">
                    <c:v>3.90%</c:v>
                  </c:pt>
                  <c:pt idx="4">
                    <c:v>4.25%</c:v>
                  </c:pt>
                  <c:pt idx="5">
                    <c:v>4.50%</c:v>
                  </c:pt>
                  <c:pt idx="6">
                    <c:v>5.00%</c:v>
                  </c:pt>
                  <c:pt idx="7">
                    <c:v>5.50%</c:v>
                  </c:pt>
                  <c:pt idx="8">
                    <c:v>6.00%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21.25</c:v>
                </c:pt>
                <c:pt idx="1">
                  <c:v>23.75</c:v>
                </c:pt>
                <c:pt idx="2">
                  <c:v>26.25</c:v>
                </c:pt>
                <c:pt idx="3">
                  <c:v>28.25</c:v>
                </c:pt>
                <c:pt idx="4">
                  <c:v>30</c:v>
                </c:pt>
                <c:pt idx="5">
                  <c:v>31.25</c:v>
                </c:pt>
                <c:pt idx="6">
                  <c:v>33.75</c:v>
                </c:pt>
                <c:pt idx="7">
                  <c:v>36.25</c:v>
                </c:pt>
                <c:pt idx="8">
                  <c:v>38.75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75% Swap</c:v>
                </c:pt>
              </c:strCache>
            </c:strRef>
          </c:tx>
          <c:spPr>
            <a:solidFill>
              <a:srgbClr val="2E75B6"/>
            </a:solidFill>
            <a:ln w="31750" cap="flat">
              <a:solidFill>
                <a:srgbClr val="2E75B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75B6"/>
              </a:solidFill>
              <a:ln w="9525" cap="flat">
                <a:solidFill>
                  <a:srgbClr val="2E75B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2.50%</c:v>
                  </c:pt>
                  <c:pt idx="1">
                    <c:v>3.00%</c:v>
                  </c:pt>
                  <c:pt idx="2">
                    <c:v>3.50%</c:v>
                  </c:pt>
                  <c:pt idx="3">
                    <c:v>3.90%</c:v>
                  </c:pt>
                  <c:pt idx="4">
                    <c:v>4.25%</c:v>
                  </c:pt>
                  <c:pt idx="5">
                    <c:v>4.50%</c:v>
                  </c:pt>
                  <c:pt idx="6">
                    <c:v>5.00%</c:v>
                  </c:pt>
                  <c:pt idx="7">
                    <c:v>5.50%</c:v>
                  </c:pt>
                  <c:pt idx="8">
                    <c:v>6.00%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28.375</c:v>
                </c:pt>
                <c:pt idx="1">
                  <c:v>29</c:v>
                </c:pt>
                <c:pt idx="2">
                  <c:v>29.625</c:v>
                </c:pt>
                <c:pt idx="3">
                  <c:v>30.125</c:v>
                </c:pt>
                <c:pt idx="4">
                  <c:v>30.5625</c:v>
                </c:pt>
                <c:pt idx="5">
                  <c:v>30.875</c:v>
                </c:pt>
                <c:pt idx="6">
                  <c:v>31.5</c:v>
                </c:pt>
                <c:pt idx="7">
                  <c:v>32.125</c:v>
                </c:pt>
                <c:pt idx="8">
                  <c:v>32.75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75% Cap</c:v>
                </c:pt>
              </c:strCache>
            </c:strRef>
          </c:tx>
          <c:spPr>
            <a:solidFill>
              <a:srgbClr val="70AD47"/>
            </a:solidFill>
            <a:ln w="31750" cap="flat">
              <a:solidFill>
                <a:srgbClr val="70AD4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0AD47"/>
              </a:solidFill>
              <a:ln w="9525" cap="flat">
                <a:solidFill>
                  <a:srgbClr val="70AD4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2.50%</c:v>
                  </c:pt>
                  <c:pt idx="1">
                    <c:v>3.00%</c:v>
                  </c:pt>
                  <c:pt idx="2">
                    <c:v>3.50%</c:v>
                  </c:pt>
                  <c:pt idx="3">
                    <c:v>3.90%</c:v>
                  </c:pt>
                  <c:pt idx="4">
                    <c:v>4.25%</c:v>
                  </c:pt>
                  <c:pt idx="5">
                    <c:v>4.50%</c:v>
                  </c:pt>
                  <c:pt idx="6">
                    <c:v>5.00%</c:v>
                  </c:pt>
                  <c:pt idx="7">
                    <c:v>5.50%</c:v>
                  </c:pt>
                  <c:pt idx="8">
                    <c:v>6.00%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22.9375</c:v>
                </c:pt>
                <c:pt idx="1">
                  <c:v>25.4375</c:v>
                </c:pt>
                <c:pt idx="2">
                  <c:v>27.9375</c:v>
                </c:pt>
                <c:pt idx="3">
                  <c:v>29.9375</c:v>
                </c:pt>
                <c:pt idx="4">
                  <c:v>31.6875</c:v>
                </c:pt>
                <c:pt idx="5">
                  <c:v>32</c:v>
                </c:pt>
                <c:pt idx="6">
                  <c:v>32.625</c:v>
                </c:pt>
                <c:pt idx="7">
                  <c:v>33.25</c:v>
                </c:pt>
                <c:pt idx="8">
                  <c:v>33.875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Recommended Blend</c:v>
                </c:pt>
              </c:strCache>
            </c:strRef>
          </c:tx>
          <c:spPr>
            <a:solidFill>
              <a:srgbClr val="0B1F3A"/>
            </a:solidFill>
            <a:ln w="31750" cap="flat">
              <a:solidFill>
                <a:srgbClr val="0B1F3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B1F3A"/>
              </a:solidFill>
              <a:ln w="9525" cap="flat">
                <a:solidFill>
                  <a:srgbClr val="0B1F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2.50%</c:v>
                  </c:pt>
                  <c:pt idx="1">
                    <c:v>3.00%</c:v>
                  </c:pt>
                  <c:pt idx="2">
                    <c:v>3.50%</c:v>
                  </c:pt>
                  <c:pt idx="3">
                    <c:v>3.90%</c:v>
                  </c:pt>
                  <c:pt idx="4">
                    <c:v>4.25%</c:v>
                  </c:pt>
                  <c:pt idx="5">
                    <c:v>4.50%</c:v>
                  </c:pt>
                  <c:pt idx="6">
                    <c:v>5.00%</c:v>
                  </c:pt>
                  <c:pt idx="7">
                    <c:v>5.50%</c:v>
                  </c:pt>
                  <c:pt idx="8">
                    <c:v>6.00%</c:v>
                  </c:pt>
                </c:lvl>
              </c:multiLvlStrCache>
            </c:multiLvlStrRef>
          </c:cat>
          <c:val>
            <c:numRef>
              <c:f>Sheet1!$E$2:$E$10</c:f>
              <c:numCache>
                <c:formatCode>General</c:formatCode>
                <c:ptCount val="9"/>
                <c:pt idx="0">
                  <c:v>26.5625</c:v>
                </c:pt>
                <c:pt idx="1">
                  <c:v>27.8125</c:v>
                </c:pt>
                <c:pt idx="2">
                  <c:v>29.0625</c:v>
                </c:pt>
                <c:pt idx="3">
                  <c:v>30.0625</c:v>
                </c:pt>
                <c:pt idx="4">
                  <c:v>30.9375</c:v>
                </c:pt>
                <c:pt idx="5">
                  <c:v>31.3125</c:v>
                </c:pt>
                <c:pt idx="6">
                  <c:v>31.9375</c:v>
                </c:pt>
                <c:pt idx="7">
                  <c:v>32.5625</c:v>
                </c:pt>
                <c:pt idx="8">
                  <c:v>33.125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SOFR scenario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2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Annual interest expense ($mm)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 w="12700" cap="flat">
          <a:solidFill>
            <a:srgbClr val="D9E0E9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Interest expense</c:v>
                </c:pt>
              </c:strCache>
            </c:strRef>
          </c:tx>
          <c:spPr>
            <a:solidFill>
              <a:srgbClr val="1F4E78"/>
            </a:solidFill>
            <a:effectLst/>
          </c:spPr>
          <c:invertIfNegative val="0"/>
          <c:dLbls>
            <c:numFmt formatCode="$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Unhedged</c:v>
                  </c:pt>
                  <c:pt idx="1">
                    <c:v>75% Swap</c:v>
                  </c:pt>
                  <c:pt idx="2">
                    <c:v>75% Cap</c:v>
                  </c:pt>
                  <c:pt idx="3">
                    <c:v>Blend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38.75</c:v>
                </c:pt>
                <c:pt idx="1">
                  <c:v>32.75</c:v>
                </c:pt>
                <c:pt idx="2">
                  <c:v>33.875</c:v>
                </c:pt>
                <c:pt idx="3">
                  <c:v>33.125</c:v>
                </c:pt>
              </c:numCache>
            </c:numRef>
          </c:val>
        </c:ser>
        <c:dLbls>
          <c:numFmt formatCode="$0.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25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 w="12700" cap="flat">
          <a:solidFill>
            <a:srgbClr val="D9E0E9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EBITDA interest coverage</c:v>
                </c:pt>
              </c:strCache>
            </c:strRef>
          </c:tx>
          <c:spPr>
            <a:solidFill>
              <a:srgbClr val="2B7A78"/>
            </a:solidFill>
            <a:effectLst/>
          </c:spPr>
          <c:invertIfNegative val="0"/>
          <c:dLbls>
            <c:numFmt formatCode="0.0x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Unhedged</c:v>
                  </c:pt>
                  <c:pt idx="1">
                    <c:v>75% Swap</c:v>
                  </c:pt>
                  <c:pt idx="2">
                    <c:v>75% Cap</c:v>
                  </c:pt>
                  <c:pt idx="3">
                    <c:v>Blend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4.65</c:v>
                </c:pt>
                <c:pt idx="1">
                  <c:v>5.5</c:v>
                </c:pt>
                <c:pt idx="2">
                  <c:v>5.31</c:v>
                </c:pt>
                <c:pt idx="3">
                  <c:v>5.43</c:v>
                </c:pt>
              </c:numCache>
            </c:numRef>
          </c:val>
        </c:ser>
        <c:dLbls>
          <c:numFmt formatCode="0.0x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.8"/>
          <c:min val="4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noFill/>
        <a:ln w="12700" cap="flat">
          <a:solidFill>
            <a:srgbClr val="D9E0E9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Hedge 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1F3A"/>
              </a:solidFill>
              <a:effectLst/>
            </c:spPr>
          </c:dPt>
          <c:dPt>
            <c:idx val="1"/>
            <c:bubble3D val="0"/>
            <c:spPr>
              <a:solidFill>
                <a:srgbClr val="5CA4D6"/>
              </a:solidFill>
              <a:effectLst/>
            </c:spPr>
          </c:dPt>
          <c:dPt>
            <c:idx val="2"/>
            <c:bubble3D val="0"/>
            <c:spPr>
              <a:solidFill>
                <a:srgbClr val="B8C2CF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Swap</c:v>
                </c:pt>
                <c:pt idx="1">
                  <c:v>Cap</c:v>
                </c:pt>
                <c:pt idx="2">
                  <c:v>Floating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50</c:v>
                </c:pt>
                <c:pt idx="1">
                  <c:v>25</c:v>
                </c:pt>
                <c:pt idx="2">
                  <c:v>25</c:v>
                </c:pt>
              </c:numCache>
            </c:numRef>
          </c:val>
        </c:ser>
        <c:firstSliceAng val="0"/>
        <c:holeSize val="62"/>
      </c:doughnutChart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7406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JALAAN FIELDS | CORPORATE DERIVATIVES MARKETING CASE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229600" y="6510528"/>
            <a:ext cx="3520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Synthetic portfolio simulation | Not executable pricing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8309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8309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777240"/>
            <a:ext cx="100584" cy="4389120"/>
          </a:xfrm>
          <a:prstGeom prst="rect">
            <a:avLst/>
          </a:prstGeom>
          <a:solidFill>
            <a:srgbClr val="5CA4D6"/>
          </a:solidFill>
          <a:ln w="12700">
            <a:solidFill>
              <a:srgbClr val="5CA4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960120"/>
            <a:ext cx="7955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Corporate Interest Rate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Derivatives Marketing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86968" y="242316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7F4"/>
                </a:solidFill>
              </a:rPr>
              <a:t>Executive Hedge Recommendation | Synthetic $500M Floating-Rate Borrower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86968" y="30632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E7F4"/>
                </a:solidFill>
              </a:rPr>
              <a:t>Excel model + client-ready pitch deck demonstrating rates analysis, hedge structuring, scenario modeling, risk quantification, credit awareness, and cross-functional execution.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86968" y="48920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Prepared by Jalaan Fields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86968" y="525780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8DA"/>
                </a:solidFill>
              </a:rPr>
              <a:t>Portfolio project | September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86968" y="591616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B8C8DA"/>
                </a:solidFill>
              </a:rPr>
              <a:t>IMPORTANT: Treasury yields use public market data; derivative pricing inputs are illustrative and not executable dealer quotes.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8309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 situation and risk objective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9552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Northstar Components, Inc. | Synthetic borrower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25603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34440"/>
            <a:ext cx="73152" cy="960120"/>
          </a:xfrm>
          <a:prstGeom prst="rect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362456"/>
            <a:ext cx="2249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</a:rPr>
              <a:t>FLOATING-RATE DEBT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95528" y="1591056"/>
            <a:ext cx="22494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$500M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95528" y="1947672"/>
            <a:ext cx="22494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</a:rPr>
              <a:t>SOFR + 175 bps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337560" y="1234440"/>
            <a:ext cx="25603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234440"/>
            <a:ext cx="73152" cy="960120"/>
          </a:xfrm>
          <a:prstGeom prst="rect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38728" y="1362456"/>
            <a:ext cx="2249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</a:rPr>
              <a:t>BASE SOFR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538728" y="1591056"/>
            <a:ext cx="22494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3.90%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38728" y="1947672"/>
            <a:ext cx="22494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</a:rPr>
              <a:t>Illustrative case input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080760" y="1234440"/>
            <a:ext cx="25603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80760" y="1234440"/>
            <a:ext cx="73152" cy="960120"/>
          </a:xfrm>
          <a:prstGeom prst="rect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81928" y="1362456"/>
            <a:ext cx="2249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</a:rPr>
              <a:t>ANNUAL EBITDA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281928" y="1591056"/>
            <a:ext cx="22494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$180M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281928" y="1947672"/>
            <a:ext cx="22494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</a:rPr>
              <a:t>Synthetic client assumption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8823960" y="1234440"/>
            <a:ext cx="25603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23960" y="1234440"/>
            <a:ext cx="73152" cy="960120"/>
          </a:xfrm>
          <a:prstGeom prst="rect">
            <a:avLst/>
          </a:prstGeom>
          <a:solidFill>
            <a:srgbClr val="2B7A78"/>
          </a:solidFill>
          <a:ln w="12700">
            <a:solidFill>
              <a:srgbClr val="2B7A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25128" y="1362456"/>
            <a:ext cx="2249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</a:rPr>
              <a:t>INTEREST BUDGET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025128" y="1591056"/>
            <a:ext cx="22494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$34M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025128" y="1947672"/>
            <a:ext cx="22494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</a:rPr>
              <a:t>Illustrative risk limit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02920" y="2514600"/>
            <a:ext cx="11155680" cy="301752"/>
          </a:xfrm>
          <a:prstGeom prst="roundRect">
            <a:avLst>
              <a:gd name="adj" fmla="val 18182"/>
            </a:avLst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2578608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Treasury objectives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800" y="2971800"/>
            <a:ext cx="5303520" cy="2468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</a:rPr>
              <a:t>Reduce exposure to higher-for-longer short-term rates and protect the annual interest budget.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</a:rPr>
              <a:t>Preserve some participation if benchmark rates decline rather than fully fixing the debt.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</a:rPr>
              <a:t>Keep the hedge aligned with the expected three-year debt horizon and refinancing flexibility.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</a:rPr>
              <a:t>Create an execution plan that can move through Trading, Credit, Legal, Accounting and Banking stakeholders.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309360" y="2971800"/>
            <a:ext cx="5074920" cy="242316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32461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472"/>
                </a:solidFill>
              </a:rPr>
              <a:t>Core question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537960" y="3593592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How much rate certainty should the client buy — and with which instrument — without giving away all benefit if SOFR falls?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537960" y="4736592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This case evaluates an unhedged position, a 75% swap, a 75% cap, and a blended hedge.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8309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Rates backdrop: upward-sloping Treasury curve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9552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Public market context as of September 22, 2026</a:t>
            </a:r>
            <a:endParaRPr lang="en-US" sz="10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325880"/>
          <a:ext cx="658368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43800" y="1389888"/>
            <a:ext cx="3977640" cy="1143000"/>
          </a:xfrm>
          <a:prstGeom prst="roundRect">
            <a:avLst>
              <a:gd name="adj" fmla="val 4000"/>
            </a:avLst>
          </a:prstGeom>
          <a:solidFill>
            <a:srgbClr val="EAF2F8"/>
          </a:solidFill>
          <a:ln w="12700">
            <a:solidFill>
              <a:srgbClr val="B8D0E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18120" y="162763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6472"/>
                </a:solidFill>
              </a:rPr>
              <a:t>Market message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818120" y="1911096"/>
            <a:ext cx="3337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Longer Treasury tenors sit above the 1-year point in this snapshot.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635240" y="2788920"/>
            <a:ext cx="3749040" cy="2377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172033"/>
                </a:solidFill>
              </a:rPr>
              <a:t>The client is exposed to benchmark-rate volatility because 100% of its debt floats with SOFR.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172033"/>
                </a:solidFill>
              </a:rPr>
              <a:t>A pay-fixed swap converts benchmark exposure to a known fixed rate on the hedged notional.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172033"/>
                </a:solidFill>
              </a:rPr>
              <a:t>A cap preserves declining-rate participation but introduces option premium cost.</a:t>
            </a:r>
            <a:endParaRPr lang="en-US" sz="1050" dirty="0"/>
          </a:p>
          <a:p>
            <a:pPr marL="177800" indent="-177800">
              <a:buSzPct val="100000"/>
              <a:buChar char="•"/>
            </a:pPr>
            <a:r>
              <a:rPr lang="en-US" sz="1050" dirty="0">
                <a:solidFill>
                  <a:srgbClr val="172033"/>
                </a:solidFill>
              </a:rPr>
              <a:t>Executable swap and cap levels require live dealer quotes; portfolio assumptions are illustrative.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30352" y="6236208"/>
            <a:ext cx="11064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7A8492"/>
                </a:solidFill>
              </a:rPr>
              <a:t>Source: U.S. Department of the Treasury, Daily Treasury Par Yield Curve Rates, 9/22/2026.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8309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Exposure diagnosis: current carry is manageable, tail risk is not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9552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Annual interest expense before hedging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252728"/>
            <a:ext cx="27432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252728"/>
            <a:ext cx="73152" cy="960120"/>
          </a:xfrm>
          <a:prstGeom prst="rect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380744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</a:rPr>
              <a:t>CURRENT INTEREST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59536" y="1609344"/>
            <a:ext cx="24323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$28.3M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59536" y="1965960"/>
            <a:ext cx="24323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</a:rPr>
              <a:t>At 3.90% SOFR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630168" y="1252728"/>
            <a:ext cx="27432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30168" y="1252728"/>
            <a:ext cx="73152" cy="960120"/>
          </a:xfrm>
          <a:prstGeom prst="rect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31336" y="1380744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</a:rPr>
              <a:t>+100 BP SOFR IMPACT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831336" y="1609344"/>
            <a:ext cx="24323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+$5.0M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831336" y="1965960"/>
            <a:ext cx="24323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</a:rPr>
              <a:t>Annual cash interest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601968" y="1252728"/>
            <a:ext cx="27432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01968" y="1252728"/>
            <a:ext cx="73152" cy="960120"/>
          </a:xfrm>
          <a:prstGeom prst="rect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03136" y="1380744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</a:rPr>
              <a:t>+210 BP SOFR IMPACT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803136" y="1609344"/>
            <a:ext cx="24323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+$10.5M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803136" y="1965960"/>
            <a:ext cx="24323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</a:rPr>
              <a:t>3.90% → 6.00%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9573768" y="1252728"/>
            <a:ext cx="19659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E0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73768" y="1252728"/>
            <a:ext cx="73152" cy="960120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74936" y="1380744"/>
            <a:ext cx="1655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</a:rPr>
              <a:t>6.00% INTEREST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774936" y="1609344"/>
            <a:ext cx="16550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$38.8M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774936" y="1965960"/>
            <a:ext cx="16550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</a:rPr>
              <a:t>Above budget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02920" y="2560320"/>
            <a:ext cx="11155680" cy="301752"/>
          </a:xfrm>
          <a:prstGeom prst="roundRect">
            <a:avLst>
              <a:gd name="adj" fmla="val 18182"/>
            </a:avLst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2624328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Sensitivity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58368" y="2990088"/>
            <a:ext cx="5257800" cy="224028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" y="327355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472"/>
                </a:solidFill>
              </a:rPr>
              <a:t>Annual benchmark-rate sensitivity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32688" y="368503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$50K per 1 bp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932688" y="4224528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033"/>
                </a:solidFill>
              </a:rPr>
              <a:t>Because $500M × 0.01% = $50K of annual cash interest. A 100 bp move changes annual interest by ~$5.0M.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45352" y="2990088"/>
            <a:ext cx="5285232" cy="224028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9672" y="32735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472"/>
                </a:solidFill>
              </a:rPr>
              <a:t>Budget stress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519672" y="368503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42318"/>
                </a:solidFill>
              </a:rPr>
              <a:t>$4.8M breach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6519672" y="4224528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033"/>
                </a:solidFill>
              </a:rPr>
              <a:t>At 6.00% SOFR, the unhedged position exceeds the illustrative $34M annual interest budget. The hedge objective is therefore budget protection, not simply minimizing current carry.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8309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Hedge alternatives: certainty versus flexibility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9552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Three structures plus a blended recommendation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11045952" cy="3246120"/>
        </p:xfrm>
        <a:graphic>
          <a:graphicData uri="http://schemas.openxmlformats.org/drawingml/2006/table">
            <a:tbl>
              <a:tblPr/>
              <a:tblGrid>
                <a:gridCol w="1508760"/>
                <a:gridCol w="2331720"/>
                <a:gridCol w="1691640"/>
                <a:gridCol w="1600200"/>
                <a:gridCol w="3913632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Strategy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Structure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 carry @ 3.90%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Interest @ 6.00%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Key trade-off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Unhedged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100% floating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$28.3M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$38.8M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Lowest carry if rates fall; full upside risk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75% Swap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75% pay-fixed / receive-SOFR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$30.1M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$32.8M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 certainty; gives up much of rate-downside benefit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75% Cap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75% SOFR cap @ 4.25%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$29.9M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$33.9M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Preserves downside; premium cost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Recommended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50% swap + 25% cap + 25% float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$30.1M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$33.1M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Balanced budget protection and flexibility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49808" y="4919472"/>
            <a:ext cx="10698480" cy="822960"/>
          </a:xfrm>
          <a:prstGeom prst="roundRect">
            <a:avLst>
              <a:gd name="adj" fmla="val 5556"/>
            </a:avLst>
          </a:prstGeom>
          <a:solidFill>
            <a:srgbClr val="EAF4EA"/>
          </a:solidFill>
          <a:ln w="12700">
            <a:solidFill>
              <a:srgbClr val="BFD8B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87552" y="5138928"/>
            <a:ext cx="10222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55B2A"/>
                </a:solidFill>
              </a:rPr>
              <a:t>Recommended blend: hedge 75% of debt — 50% with a fixed-rate swap, 25% with a cap, and leave 25% floating. The structure keeps modeled interest below the $34M budget at 6.00% SOFR while retaining meaningful participation if rates fall.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8309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Scenario analysis: the blended hedge compresses the right-tail risk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9552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Annual interest expense across SOFR outcomes</a:t>
            </a:r>
            <a:endParaRPr lang="en-US" sz="10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325880"/>
          <a:ext cx="745236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75320" y="1417320"/>
            <a:ext cx="3246120" cy="1280160"/>
          </a:xfrm>
          <a:prstGeom prst="roundRect">
            <a:avLst>
              <a:gd name="adj" fmla="val 3571"/>
            </a:avLst>
          </a:prstGeom>
          <a:solidFill>
            <a:srgbClr val="FFF7E8"/>
          </a:solidFill>
          <a:ln w="12700">
            <a:solidFill>
              <a:srgbClr val="F0D8A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49640" y="16733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6472"/>
                </a:solidFill>
              </a:rPr>
              <a:t>At 6.00% SOFR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549640" y="195681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$5.6M lower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549640" y="2331720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</a:rPr>
              <a:t>Blend vs. unhedged annual interest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8339328" y="3063240"/>
            <a:ext cx="3063240" cy="1965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020" dirty="0">
                <a:solidFill>
                  <a:srgbClr val="172033"/>
                </a:solidFill>
              </a:rPr>
              <a:t>The swap is strongest when rates rise, but creates the largest opportunity cost if rates fall.</a:t>
            </a:r>
            <a:endParaRPr lang="en-US" sz="1020" dirty="0"/>
          </a:p>
          <a:p>
            <a:pPr marL="177800" indent="-177800">
              <a:buSzPct val="100000"/>
              <a:buChar char="•"/>
            </a:pPr>
            <a:r>
              <a:rPr lang="en-US" sz="1020" dirty="0">
                <a:solidFill>
                  <a:srgbClr val="172033"/>
                </a:solidFill>
              </a:rPr>
              <a:t>The cap is more flexible, but premium reduces current carry efficiency.</a:t>
            </a:r>
            <a:endParaRPr lang="en-US" sz="1020" dirty="0"/>
          </a:p>
          <a:p>
            <a:pPr marL="177800" indent="-177800">
              <a:buSzPct val="100000"/>
              <a:buChar char="•"/>
            </a:pPr>
            <a:r>
              <a:rPr lang="en-US" sz="1020" dirty="0">
                <a:solidFill>
                  <a:srgbClr val="172033"/>
                </a:solidFill>
              </a:rPr>
              <a:t>The blend reduces severe-rate outcomes without making the client fully fixed.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8309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 and credit lens: hedge design improves resilience, not just interest cost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9552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Key metrics at the 6.00% SOFR stress case</a:t>
            </a:r>
            <a:endParaRPr lang="en-US" sz="10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371600"/>
          <a:ext cx="53492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236208" y="1371600"/>
          <a:ext cx="53492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1691640" y="422452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472"/>
                </a:solidFill>
              </a:rPr>
              <a:t>Annual interest expense ($mm)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7589520" y="42245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472"/>
                </a:solidFill>
              </a:rPr>
              <a:t>EBITDA / interest expense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502920" y="4681728"/>
            <a:ext cx="11155680" cy="301752"/>
          </a:xfrm>
          <a:prstGeom prst="roundRect">
            <a:avLst>
              <a:gd name="adj" fmla="val 18182"/>
            </a:avLst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58368" y="4745736"/>
            <a:ext cx="10789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Execution risks that must be cleared before trade date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786384" y="5148072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2033"/>
                </a:solidFill>
              </a:rPr>
              <a:t>Basis risk  •  counterparty / credit exposure  •  ISDA/CSA terms  •  early termination / refinancing risk  •  hedge accounting  •  option premium economics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8309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Recommendation: stage a 75% hedge with two instruments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9552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50% swap + 25% cap + 25% floating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3840480" cy="3840480"/>
          </a:xfrm>
          <a:prstGeom prst="donu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777240" y="1508760"/>
          <a:ext cx="36576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846320" y="1417320"/>
            <a:ext cx="6583680" cy="1024128"/>
          </a:xfrm>
          <a:prstGeom prst="roundRect">
            <a:avLst>
              <a:gd name="adj" fmla="val 4464"/>
            </a:avLst>
          </a:prstGeom>
          <a:solidFill>
            <a:srgbClr val="EAF4EA"/>
          </a:solidFill>
          <a:ln w="12700">
            <a:solidFill>
              <a:srgbClr val="BFD8B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138928" y="166420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6472"/>
                </a:solidFill>
              </a:rPr>
              <a:t>Why this mix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138928" y="1920240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55B2A"/>
                </a:solidFill>
              </a:rPr>
              <a:t>It converts half the debt to fixed benchmark exposure, caps another quarter, and leaves a quarter fully floating.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956048" y="2743200"/>
            <a:ext cx="6217920" cy="2240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172033"/>
                </a:solidFill>
              </a:rPr>
              <a:t>Budget protection: modeled annual interest remains below $34M at 6.00% SOFR.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172033"/>
                </a:solidFill>
              </a:rPr>
              <a:t>Flexibility: 50% of the debt still benefits from rate declines through the cap and floating tranches.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172033"/>
                </a:solidFill>
              </a:rPr>
              <a:t>Refinancing alignment: a partial hedge reduces potential breakage if the debt is refinanced early.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172033"/>
                </a:solidFill>
              </a:rPr>
              <a:t>Execution flexibility: the client can stage the swap and cap rather than transact the full hedge in one print.</a:t>
            </a:r>
            <a:endParaRPr lang="en-US" sz="1120" dirty="0"/>
          </a:p>
        </p:txBody>
      </p:sp>
      <p:sp>
        <p:nvSpPr>
          <p:cNvPr id="10" name="Text 7"/>
          <p:cNvSpPr/>
          <p:nvPr/>
        </p:nvSpPr>
        <p:spPr>
          <a:xfrm>
            <a:off x="5010912" y="5276088"/>
            <a:ext cx="6172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</a:rPr>
              <a:t>Decision rule: re-price the mix with live swap and cap markets before execution; alter the hedge ratio if the client’s debt or liquidity outlook changes materially.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8309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Execution roadmap: convert analysis into an executable transaction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9552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Illustrative workflow across J.P. Morgan partner teams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325880"/>
            <a:ext cx="475488" cy="475488"/>
          </a:xfrm>
          <a:prstGeom prst="ellipse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453896"/>
            <a:ext cx="4754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53312" y="12984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Client / Senior Marketer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977640" y="1298448"/>
            <a:ext cx="7086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Confirm exposure, risk tolerance, debt life and hedge objectives.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96112" y="1801368"/>
            <a:ext cx="0" cy="411480"/>
          </a:xfrm>
          <a:prstGeom prst="line">
            <a:avLst/>
          </a:prstGeom>
          <a:noFill/>
          <a:ln w="19050">
            <a:solidFill>
              <a:srgbClr val="AAB4C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2075688"/>
            <a:ext cx="475488" cy="475488"/>
          </a:xfrm>
          <a:prstGeom prst="ellipse">
            <a:avLst/>
          </a:prstGeom>
          <a:solidFill>
            <a:srgbClr val="1F4E78"/>
          </a:solidFill>
          <a:ln w="12700">
            <a:solidFill>
              <a:srgbClr val="1F4E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203704"/>
            <a:ext cx="4754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53312" y="20482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Trading / Structuring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977640" y="2048256"/>
            <a:ext cx="7086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Obtain executable swap levels, cap volatility and premium; test alternative strikes / tenors.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6112" y="2551176"/>
            <a:ext cx="0" cy="411480"/>
          </a:xfrm>
          <a:prstGeom prst="line">
            <a:avLst/>
          </a:prstGeom>
          <a:noFill/>
          <a:ln w="19050">
            <a:solidFill>
              <a:srgbClr val="AAB4C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2825496"/>
            <a:ext cx="475488" cy="475488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953512"/>
            <a:ext cx="4754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353312" y="27980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Credit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977640" y="2798064"/>
            <a:ext cx="7086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Assess counterparty exposure, limits, collateral and potential future exposure.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96112" y="3300984"/>
            <a:ext cx="0" cy="411480"/>
          </a:xfrm>
          <a:prstGeom prst="line">
            <a:avLst/>
          </a:prstGeom>
          <a:noFill/>
          <a:ln w="19050">
            <a:solidFill>
              <a:srgbClr val="AAB4C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3575304"/>
            <a:ext cx="475488" cy="475488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703320"/>
            <a:ext cx="4754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353312" y="35478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Legal + Accounting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977640" y="3547872"/>
            <a:ext cx="7086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Confirm ISDA/CSA, debt covenants, hedge-accounting documentation and effectiveness.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96112" y="4050792"/>
            <a:ext cx="0" cy="411480"/>
          </a:xfrm>
          <a:prstGeom prst="line">
            <a:avLst/>
          </a:prstGeom>
          <a:noFill/>
          <a:ln w="19050">
            <a:solidFill>
              <a:srgbClr val="AAB4C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" y="4325112"/>
            <a:ext cx="475488" cy="475488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4453128"/>
            <a:ext cx="4754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353312" y="4297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Execution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977640" y="4297680"/>
            <a:ext cx="7086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Stage trades, verify confirmations, monitor market moves and capture economics.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96112" y="4800600"/>
            <a:ext cx="0" cy="411480"/>
          </a:xfrm>
          <a:prstGeom prst="line">
            <a:avLst/>
          </a:prstGeom>
          <a:noFill/>
          <a:ln w="19050">
            <a:solidFill>
              <a:srgbClr val="AAB4C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8368" y="5074920"/>
            <a:ext cx="475488" cy="475488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5202936"/>
            <a:ext cx="4754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353312" y="50474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Ongoing Coverage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977640" y="5047488"/>
            <a:ext cx="7086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033"/>
                </a:solidFill>
              </a:rPr>
              <a:t>Track hedge performance, refinancing risk, market moves and new client opportunities.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156448" y="5577840"/>
            <a:ext cx="3383280" cy="384048"/>
          </a:xfrm>
          <a:prstGeom prst="roundRect">
            <a:avLst>
              <a:gd name="adj" fmla="val 9524"/>
            </a:avLst>
          </a:prstGeom>
          <a:solidFill>
            <a:srgbClr val="FFF7E8"/>
          </a:solidFill>
          <a:ln w="12700">
            <a:solidFill>
              <a:srgbClr val="F0D8A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39328" y="5678424"/>
            <a:ext cx="2999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A5510"/>
                </a:solidFill>
              </a:rPr>
              <a:t>Analyst role: model, synthesize, coordinate, communicate.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8309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appendix and disclosure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9552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</a:rPr>
              <a:t>Model assumptions are transparent, editable and intentionally simplified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234440"/>
            <a:ext cx="5532120" cy="301752"/>
          </a:xfrm>
          <a:prstGeom prst="roundRect">
            <a:avLst>
              <a:gd name="adj" fmla="val 12121"/>
            </a:avLst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298448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Illustrative pricing assumptions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691640"/>
          <a:ext cx="5532120" cy="2880360"/>
        </p:xfrm>
        <a:graphic>
          <a:graphicData uri="http://schemas.openxmlformats.org/drawingml/2006/table">
            <a:tbl>
              <a:tblPr/>
              <a:tblGrid>
                <a:gridCol w="1965960"/>
                <a:gridCol w="1417320"/>
                <a:gridCol w="2148840"/>
              </a:tblGrid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</a:rPr>
                        <a:t>Input</a:t>
                      </a:r>
                      <a:endParaRPr lang="en-US" sz="1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</a:rPr>
                        <a:t>Assumption</a:t>
                      </a:r>
                      <a:endParaRPr lang="en-US" sz="1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</a:rPr>
                        <a:t>Purpose</a:t>
                      </a:r>
                      <a:endParaRPr lang="en-US" sz="1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</a:rPr>
                        <a:t>SOFR</a:t>
                      </a:r>
                      <a:endParaRPr lang="en-US" sz="1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</a:rPr>
                        <a:t>3.90%</a:t>
                      </a:r>
                      <a:endParaRPr lang="en-US" sz="1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</a:rPr>
                        <a:t>Base floating reference rate</a:t>
                      </a:r>
                      <a:endParaRPr lang="en-US" sz="1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</a:rPr>
                        <a:t>3Y swap fixed rate</a:t>
                      </a:r>
                      <a:endParaRPr lang="en-US" sz="1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</a:rPr>
                        <a:t>4.40%</a:t>
                      </a:r>
                      <a:endParaRPr lang="en-US" sz="1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</a:rPr>
                        <a:t>Pay-fixed / receive-SOFR comparison</a:t>
                      </a:r>
                      <a:endParaRPr lang="en-US" sz="1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</a:rPr>
                        <a:t>SOFR cap strike</a:t>
                      </a:r>
                      <a:endParaRPr lang="en-US" sz="1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</a:rPr>
                        <a:t>4.25%</a:t>
                      </a:r>
                      <a:endParaRPr lang="en-US" sz="1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</a:rPr>
                        <a:t>Benchmark-rate ceiling</a:t>
                      </a:r>
                      <a:endParaRPr lang="en-US" sz="1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</a:rPr>
                        <a:t>Cap annualized premium</a:t>
                      </a:r>
                      <a:endParaRPr lang="en-US" sz="1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</a:rPr>
                        <a:t>0.45% of cap notional</a:t>
                      </a:r>
                      <a:endParaRPr lang="en-US" sz="1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</a:rPr>
                        <a:t>Simplified option-cost proxy</a:t>
                      </a:r>
                      <a:endParaRPr lang="en-US" sz="1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</a:rPr>
                        <a:t>Loan spread</a:t>
                      </a:r>
                      <a:endParaRPr lang="en-US" sz="1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</a:rPr>
                        <a:t>175 bps</a:t>
                      </a:r>
                      <a:endParaRPr lang="en-US" sz="1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</a:rPr>
                        <a:t>Client credit spread retained under all structures</a:t>
                      </a:r>
                      <a:endParaRPr lang="en-US" sz="1000" dirty="0"/>
                    </a:p>
                  </a:txBody>
                  <a:tcPr marL="73152" marR="73152" marT="73152" marB="73152">
                    <a:lnL w="762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73952" y="1234440"/>
            <a:ext cx="4681728" cy="301752"/>
          </a:xfrm>
          <a:prstGeom prst="roundRect">
            <a:avLst>
              <a:gd name="adj" fmla="val 12121"/>
            </a:avLst>
          </a:prstGeom>
          <a:solidFill>
            <a:srgbClr val="132A46"/>
          </a:solidFill>
          <a:ln w="12700">
            <a:solidFill>
              <a:srgbClr val="132A4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38544" y="1298448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Model limitations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73952" y="1709928"/>
            <a:ext cx="4709160" cy="2697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040" dirty="0">
                <a:solidFill>
                  <a:srgbClr val="172033"/>
                </a:solidFill>
              </a:rPr>
              <a:t>No day-count conventions, discount factors, curve bootstrapping, CVA/FVA, bid-offer or collateral economics.</a:t>
            </a:r>
            <a:endParaRPr lang="en-US" sz="1040" dirty="0"/>
          </a:p>
          <a:p>
            <a:pPr marL="177800" indent="-177800">
              <a:buSzPct val="100000"/>
              <a:buChar char="•"/>
            </a:pPr>
            <a:r>
              <a:rPr lang="en-US" sz="1040" dirty="0">
                <a:solidFill>
                  <a:srgbClr val="172033"/>
                </a:solidFill>
              </a:rPr>
              <a:t>Cap premium is represented as an annualized equivalent for comparability; real premium is quoted from option markets.</a:t>
            </a:r>
            <a:endParaRPr lang="en-US" sz="1040" dirty="0"/>
          </a:p>
          <a:p>
            <a:pPr marL="177800" indent="-177800">
              <a:buSzPct val="100000"/>
              <a:buChar char="•"/>
            </a:pPr>
            <a:r>
              <a:rPr lang="en-US" sz="1040" dirty="0">
                <a:solidFill>
                  <a:srgbClr val="172033"/>
                </a:solidFill>
              </a:rPr>
              <a:t>Treasury yields provide macro/rates context only and are not substitutes for the swap curve.</a:t>
            </a:r>
            <a:endParaRPr lang="en-US" sz="1040" dirty="0"/>
          </a:p>
          <a:p>
            <a:pPr marL="177800" indent="-177800">
              <a:buSzPct val="100000"/>
              <a:buChar char="•"/>
            </a:pPr>
            <a:r>
              <a:rPr lang="en-US" sz="1040" dirty="0">
                <a:solidFill>
                  <a:srgbClr val="172033"/>
                </a:solidFill>
              </a:rPr>
              <a:t>Client financials and derivative prices are synthetic. Final execution requires live market quotes and full legal/credit review.</a:t>
            </a:r>
            <a:endParaRPr lang="en-US" sz="1040" dirty="0"/>
          </a:p>
        </p:txBody>
      </p:sp>
      <p:sp>
        <p:nvSpPr>
          <p:cNvPr id="10" name="Shape 7"/>
          <p:cNvSpPr/>
          <p:nvPr/>
        </p:nvSpPr>
        <p:spPr>
          <a:xfrm>
            <a:off x="6473952" y="4572000"/>
            <a:ext cx="4681728" cy="822960"/>
          </a:xfrm>
          <a:prstGeom prst="roundRect">
            <a:avLst>
              <a:gd name="adj" fmla="val 4444"/>
            </a:avLst>
          </a:prstGeom>
          <a:solidFill>
            <a:srgbClr val="EAF2F8"/>
          </a:solidFill>
          <a:ln w="12700">
            <a:solidFill>
              <a:srgbClr val="B8D0E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20840" y="477316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6472"/>
                </a:solidFill>
              </a:rPr>
              <a:t>Workbook deliverable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720840" y="502920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</a:rPr>
              <a:t>Linked assumptions, quarterly model, scenarios, credit/risk metrics, sources and executive summary.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30352" y="6236208"/>
            <a:ext cx="11064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7A8492"/>
                </a:solidFill>
              </a:rPr>
              <a:t>Public sources: U.S. Treasury Daily Treasury Rates; Federal Reserve Bank of New York SOFR methodology.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483096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5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Portfolio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Corporate Interest Rate Derivatives Marketing | Executive Hedge Recommendation</dc:title>
  <dc:subject>Corporate Interest Rate Derivatives Marketing Case</dc:subject>
  <dc:creator>Jalaan Fields</dc:creator>
  <cp:lastModifiedBy>Jalaan Fields</cp:lastModifiedBy>
  <cp:revision>1</cp:revision>
  <dcterms:created xsi:type="dcterms:W3CDTF">2026-09-23T21:19:37Z</dcterms:created>
  <dcterms:modified xsi:type="dcterms:W3CDTF">2026-09-23T21:19:37Z</dcterms:modified>
</cp:coreProperties>
</file>